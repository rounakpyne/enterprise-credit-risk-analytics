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rimson Pro Bold" panose="020B0604020202020204" charset="0"/>
      <p:regular r:id="rId18"/>
    </p:embeddedFont>
    <p:embeddedFont>
      <p:font typeface="Crimson Pro Light" panose="020B0604020202020204" charset="0"/>
      <p:regular r:id="rId19"/>
    </p:embeddedFont>
    <p:embeddedFont>
      <p:font typeface="Open Sans" panose="020B0606030504020204" pitchFamily="34" charset="0"/>
      <p:regular r:id="rId20"/>
      <p:italic r:id="rId21"/>
    </p:embeddedFont>
    <p:embeddedFont>
      <p:font typeface="Open Sans Bold" panose="020B0806030504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7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379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343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Enterprise Credit Risk &amp; Portfolio Analytics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39007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Credit Risk Analytics — SQL, Python, Machine Learning &amp; Power BI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307952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443728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6822" y="2492722"/>
            <a:ext cx="4103191" cy="1347267"/>
          </a:xfrm>
          <a:prstGeom prst="roundRect">
            <a:avLst>
              <a:gd name="adj" fmla="val 6629"/>
            </a:avLst>
          </a:prstGeom>
          <a:solidFill>
            <a:srgbClr val="835E54"/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2616696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934519"/>
            <a:ext cx="431244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Rounak Pyne | Business Analyst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616696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Scope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2934519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comprehensive, multi-stage analytics platform covering data engineering, exploratory analysis, predictive modelling, time-series forecasting, and executive dashboarding for enterprise credit risk management.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4646"/>
            <a:ext cx="8151763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Business Problem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918195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 financial institution is facing: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174403"/>
            <a:ext cx="3950568" cy="6296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0247" y="1291382"/>
            <a:ext cx="3659460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Rising Customer Defaults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70247" y="1536948"/>
            <a:ext cx="3659460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Default rates are climbing, eroding portfolio quality and capital adequacy.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889150"/>
            <a:ext cx="3950568" cy="6296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0247" y="2006129"/>
            <a:ext cx="3659460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Increasing Delinquency Rates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70247" y="2251695"/>
            <a:ext cx="3659460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More accounts are falling behind on payments, signalling systemic stress.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603897"/>
            <a:ext cx="3950568" cy="6296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0247" y="2720876"/>
            <a:ext cx="3659460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Growing Fraud Incidents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70247" y="2966442"/>
            <a:ext cx="3659460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Fraud alerts are multiplying, compounding credit losses.</a:t>
            </a:r>
            <a:endParaRPr lang="en-US" sz="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318644"/>
            <a:ext cx="3950568" cy="6296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0247" y="3435623"/>
            <a:ext cx="3659460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Higher Collection Costs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70247" y="3681189"/>
            <a:ext cx="3659460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Recovery efforts are consuming resources without proportionate returns.</a:t>
            </a:r>
            <a:endParaRPr lang="en-US" sz="8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4033391"/>
            <a:ext cx="3950568" cy="6296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0247" y="4150370"/>
            <a:ext cx="3659460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Limited Visibility into Future Portfolio Risk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670247" y="4395936"/>
            <a:ext cx="3659460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forward-looking signal exists to anticipate deterioration before it occurs.</a:t>
            </a:r>
            <a:endParaRPr lang="en-US" sz="800" dirty="0"/>
          </a:p>
        </p:txBody>
      </p:sp>
      <p:sp>
        <p:nvSpPr>
          <p:cNvPr id="19" name="Text 12"/>
          <p:cNvSpPr/>
          <p:nvPr/>
        </p:nvSpPr>
        <p:spPr>
          <a:xfrm>
            <a:off x="4702076" y="918195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Five questions this project answers: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4702076" y="1174403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800" dirty="0"/>
          </a:p>
        </p:txBody>
      </p:sp>
      <p:sp>
        <p:nvSpPr>
          <p:cNvPr id="21" name="Shape 14"/>
          <p:cNvSpPr/>
          <p:nvPr/>
        </p:nvSpPr>
        <p:spPr>
          <a:xfrm>
            <a:off x="4702076" y="1334691"/>
            <a:ext cx="3950568" cy="14288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22" name="Text 15"/>
          <p:cNvSpPr/>
          <p:nvPr/>
        </p:nvSpPr>
        <p:spPr>
          <a:xfrm>
            <a:off x="4702076" y="1414611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Which customers are most likely to default?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702076" y="1737196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4702076" y="1897484"/>
            <a:ext cx="3950568" cy="14288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25" name="Text 18"/>
          <p:cNvSpPr/>
          <p:nvPr/>
        </p:nvSpPr>
        <p:spPr>
          <a:xfrm>
            <a:off x="4702076" y="1977405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factors drive default risk?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4702076" y="2299990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Shape 20"/>
          <p:cNvSpPr/>
          <p:nvPr/>
        </p:nvSpPr>
        <p:spPr>
          <a:xfrm>
            <a:off x="4702076" y="2460278"/>
            <a:ext cx="3950568" cy="14288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28" name="Text 21"/>
          <p:cNvSpPr/>
          <p:nvPr/>
        </p:nvSpPr>
        <p:spPr>
          <a:xfrm>
            <a:off x="4702076" y="2540198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Which customer segments are riskiest?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702076" y="2862783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4702076" y="3023071"/>
            <a:ext cx="3950568" cy="14288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31" name="Text 24"/>
          <p:cNvSpPr/>
          <p:nvPr/>
        </p:nvSpPr>
        <p:spPr>
          <a:xfrm>
            <a:off x="4702076" y="3102992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How effective is collections recovery?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4702076" y="3425577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4702076" y="3585865"/>
            <a:ext cx="3950568" cy="14288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34" name="Text 27"/>
          <p:cNvSpPr/>
          <p:nvPr/>
        </p:nvSpPr>
        <p:spPr>
          <a:xfrm>
            <a:off x="4702076" y="3665786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will happen to risk over the next 6 months?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6369"/>
            <a:ext cx="8151763" cy="26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Dataset &amp; Architecture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96119" y="782687"/>
            <a:ext cx="4039270" cy="281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20K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96119" y="1150665"/>
            <a:ext cx="4039270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608612" y="782687"/>
            <a:ext cx="4039270" cy="281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20K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608612" y="1150665"/>
            <a:ext cx="4039270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Accounts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96119" y="1443782"/>
            <a:ext cx="4039270" cy="281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6119" y="1811759"/>
            <a:ext cx="4039270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Transactions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08612" y="1443782"/>
            <a:ext cx="4039270" cy="281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720K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08612" y="1811759"/>
            <a:ext cx="4039270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Monthly Snapshots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6119" y="2104876"/>
            <a:ext cx="4039270" cy="281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50K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6119" y="2472854"/>
            <a:ext cx="4039270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Fraud Alerts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08612" y="2104876"/>
            <a:ext cx="4039270" cy="281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100K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08612" y="2472854"/>
            <a:ext cx="4039270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Collections Records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6119" y="2694012"/>
            <a:ext cx="8151763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End-to-End Pipeline</a:t>
            </a:r>
            <a:endParaRPr lang="en-US" sz="8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915171"/>
            <a:ext cx="4075881" cy="3411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81397" y="3314849"/>
            <a:ext cx="3905324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CSV Files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81397" y="3483248"/>
            <a:ext cx="3905324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Raw source data ingestion</a:t>
            </a:r>
            <a:endParaRPr lang="en-US" sz="6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915171"/>
            <a:ext cx="4075881" cy="34111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57279" y="3314849"/>
            <a:ext cx="3905324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PostgreSQL Data Mart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657279" y="3483248"/>
            <a:ext cx="3905324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storage &amp; SQL analytics</a:t>
            </a:r>
            <a:endParaRPr lang="en-US" sz="6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683645"/>
            <a:ext cx="4075881" cy="34111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81397" y="4083323"/>
            <a:ext cx="3905324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Python EDA &amp; Modelling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581397" y="4251722"/>
            <a:ext cx="3905324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engineering, Logistic Regression, ARIMA</a:t>
            </a:r>
            <a:endParaRPr lang="en-US" sz="6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683645"/>
            <a:ext cx="4075881" cy="34111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657279" y="4083323"/>
            <a:ext cx="3905324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Power BI Dashboard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4657279" y="4251722"/>
            <a:ext cx="3905324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reporting &amp; monitoring</a:t>
            </a:r>
            <a:endParaRPr lang="en-US" sz="650" dirty="0"/>
          </a:p>
        </p:txBody>
      </p:sp>
      <p:sp>
        <p:nvSpPr>
          <p:cNvPr id="28" name="Shape 22"/>
          <p:cNvSpPr/>
          <p:nvPr/>
        </p:nvSpPr>
        <p:spPr>
          <a:xfrm>
            <a:off x="496119" y="4518050"/>
            <a:ext cx="8151763" cy="269007"/>
          </a:xfrm>
          <a:prstGeom prst="roundRect">
            <a:avLst>
              <a:gd name="adj" fmla="val 13315"/>
            </a:avLst>
          </a:prstGeom>
          <a:solidFill>
            <a:srgbClr val="EBE2E0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397" y="4626173"/>
            <a:ext cx="106561" cy="85279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73237" y="4597896"/>
            <a:ext cx="8246566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Tech Stack:</a:t>
            </a:r>
            <a:r>
              <a:rPr lang="en-US" sz="6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PostgreSQL · Python (pandas, scikit-learn, statsmodels) · Power BI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2202"/>
            <a:ext cx="8151763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SQL Analysis — Portfolio KPIs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09575" y="902271"/>
            <a:ext cx="4102373" cy="3889028"/>
          </a:xfrm>
          <a:prstGeom prst="roundRect">
            <a:avLst>
              <a:gd name="adj" fmla="val 2225"/>
            </a:avLst>
          </a:prstGeom>
          <a:solidFill>
            <a:srgbClr val="835E54"/>
          </a:solidFill>
          <a:ln/>
        </p:spPr>
      </p:sp>
      <p:sp>
        <p:nvSpPr>
          <p:cNvPr id="4" name="Text 2"/>
          <p:cNvSpPr/>
          <p:nvPr/>
        </p:nvSpPr>
        <p:spPr>
          <a:xfrm>
            <a:off x="529679" y="1018654"/>
            <a:ext cx="3862164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Portfolio-Level Metrics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29679" y="1337295"/>
            <a:ext cx="1872853" cy="743099"/>
          </a:xfrm>
          <a:prstGeom prst="roundRect">
            <a:avLst>
              <a:gd name="adj" fmla="val 679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4546" y="1462162"/>
            <a:ext cx="1623120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Total Accounts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4546" y="1766292"/>
            <a:ext cx="162312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20,000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8916" y="1337295"/>
            <a:ext cx="1872928" cy="743099"/>
          </a:xfrm>
          <a:prstGeom prst="roundRect">
            <a:avLst>
              <a:gd name="adj" fmla="val 679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43783" y="1462162"/>
            <a:ext cx="1623194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Total Exposure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43783" y="1766292"/>
            <a:ext cx="1623194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₹15.51 Billion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9679" y="2196778"/>
            <a:ext cx="1872853" cy="743099"/>
          </a:xfrm>
          <a:prstGeom prst="roundRect">
            <a:avLst>
              <a:gd name="adj" fmla="val 679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546" y="2321644"/>
            <a:ext cx="1623120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Delinquency Rate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4546" y="2625775"/>
            <a:ext cx="162312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55.61%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8916" y="2196778"/>
            <a:ext cx="1872928" cy="743099"/>
          </a:xfrm>
          <a:prstGeom prst="roundRect">
            <a:avLst>
              <a:gd name="adj" fmla="val 679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43783" y="2321644"/>
            <a:ext cx="1623194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Overall Default Rate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43783" y="2625775"/>
            <a:ext cx="1623194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51.95%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9679" y="3056260"/>
            <a:ext cx="3862164" cy="743099"/>
          </a:xfrm>
          <a:prstGeom prst="roundRect">
            <a:avLst>
              <a:gd name="adj" fmla="val 679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546" y="3181127"/>
            <a:ext cx="3612431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Fraud Rate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4546" y="3485257"/>
            <a:ext cx="3612431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91.44%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23358" y="1018654"/>
            <a:ext cx="392928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Risk Segmentation — Validates the Scoring Model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23358" y="1322784"/>
            <a:ext cx="3929286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clean monotonic increase in default rate across risk tiers confirms the risk score works exactly as intended.</a:t>
            </a:r>
            <a:endParaRPr lang="en-US" sz="9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358" y="1832149"/>
            <a:ext cx="3929286" cy="28282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776"/>
            <a:ext cx="8151763" cy="26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EDA Findings — What Actually Drives Default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96119" y="809699"/>
            <a:ext cx="397185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Strongest Signals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008906"/>
            <a:ext cx="3971851" cy="4965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9022" y="1103709"/>
            <a:ext cx="3744144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Days Past Due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29022" y="1295549"/>
            <a:ext cx="3744144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Correlation </a:t>
            </a:r>
            <a:r>
              <a:rPr lang="en-US" sz="6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0.39</a:t>
            </a: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the single strongest predictor of default in the portfolio.</a:t>
            </a:r>
            <a:endParaRPr lang="en-US" sz="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564035"/>
            <a:ext cx="3971851" cy="4965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9022" y="1658838"/>
            <a:ext cx="3744144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Utilization Ratio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29022" y="1850678"/>
            <a:ext cx="3744144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Correlation </a:t>
            </a:r>
            <a:r>
              <a:rPr lang="en-US" sz="6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0.29</a:t>
            </a: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high credit utilization is a reliable leading indicator of stress.</a:t>
            </a:r>
            <a:endParaRPr lang="en-US" sz="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119164"/>
            <a:ext cx="3971851" cy="6116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9022" y="2213967"/>
            <a:ext cx="3744144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Fraud Count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629022" y="2405807"/>
            <a:ext cx="3744144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Default rate climbs from </a:t>
            </a:r>
            <a:r>
              <a:rPr lang="en-US" sz="6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45% → 100%</a:t>
            </a: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 fraud alerts increase from 0 → 5. A compounding risk signal.</a:t>
            </a:r>
            <a:endParaRPr lang="en-US" sz="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789411"/>
            <a:ext cx="3971851" cy="6116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9022" y="2884215"/>
            <a:ext cx="3744144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Payment Ratio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629022" y="3076054"/>
            <a:ext cx="3744144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Correlation </a:t>
            </a:r>
            <a:r>
              <a:rPr lang="en-US" sz="6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-0.12</a:t>
            </a: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the only protective factor identified; consistent payment behaviour reduces default probability.</a:t>
            </a:r>
            <a:endParaRPr lang="en-US" sz="650" dirty="0"/>
          </a:p>
        </p:txBody>
      </p:sp>
      <p:sp>
        <p:nvSpPr>
          <p:cNvPr id="16" name="Text 10"/>
          <p:cNvSpPr/>
          <p:nvPr/>
        </p:nvSpPr>
        <p:spPr>
          <a:xfrm>
            <a:off x="4680793" y="809699"/>
            <a:ext cx="397185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Surprising Null Result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4808711" y="1061665"/>
            <a:ext cx="3843933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City, occupation, age, and income show almost NO variation in default rate (~50–53% flat everywhere) — this portfolio's risk is </a:t>
            </a:r>
            <a:r>
              <a:rPr lang="en-US" sz="6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behavioral, not demographic.</a:t>
            </a:r>
            <a:endParaRPr lang="en-US" sz="650" dirty="0"/>
          </a:p>
        </p:txBody>
      </p:sp>
      <p:sp>
        <p:nvSpPr>
          <p:cNvPr id="18" name="Shape 12"/>
          <p:cNvSpPr/>
          <p:nvPr/>
        </p:nvSpPr>
        <p:spPr>
          <a:xfrm>
            <a:off x="4680793" y="1008906"/>
            <a:ext cx="9525" cy="335756"/>
          </a:xfrm>
          <a:prstGeom prst="roundRect">
            <a:avLst>
              <a:gd name="adj" fmla="val 60000"/>
            </a:avLst>
          </a:prstGeom>
          <a:solidFill>
            <a:srgbClr val="835E54"/>
          </a:solidFill>
          <a:ln/>
        </p:spPr>
      </p:sp>
      <p:sp>
        <p:nvSpPr>
          <p:cNvPr id="19" name="Text 13"/>
          <p:cNvSpPr/>
          <p:nvPr/>
        </p:nvSpPr>
        <p:spPr>
          <a:xfrm>
            <a:off x="4680793" y="1410593"/>
            <a:ext cx="3971851" cy="345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finding has direct policy implications: risk models and collections strategies built around demographic proxies will underperform. The actionable signals are entirely in customer behaviour — how they pay, how much they borrow, and whether fraud has touched their account.</a:t>
            </a:r>
            <a:endParaRPr lang="en-US" sz="6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0793" y="1821879"/>
            <a:ext cx="3971851" cy="28589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971"/>
            <a:ext cx="8151763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Predictive Model — Logistic Regression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924520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Why Logistic Regression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665" y="1183928"/>
            <a:ext cx="154037" cy="154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9940" y="1180728"/>
            <a:ext cx="3616747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Interpretable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9940" y="1426294"/>
            <a:ext cx="3616747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Coefficients map directly to business intuition and can be explained to stakeholders.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665" y="1899940"/>
            <a:ext cx="154037" cy="1540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9940" y="1896740"/>
            <a:ext cx="3616747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Regulator-Friendly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29940" y="2142306"/>
            <a:ext cx="3616747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standard for credit risk — accepted by regulators and auditors.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665" y="2465784"/>
            <a:ext cx="154037" cy="15403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9940" y="2462585"/>
            <a:ext cx="3616747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Probability Scores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829940" y="2708151"/>
            <a:ext cx="3616747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Outputs a continuous probability of default, enabling risk-tiered decision-making.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496119" y="3104183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Model Features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96119" y="3360390"/>
            <a:ext cx="1932756" cy="375419"/>
          </a:xfrm>
          <a:prstGeom prst="roundRect">
            <a:avLst>
              <a:gd name="adj" fmla="val 1149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03572" y="3467844"/>
            <a:ext cx="1717849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Utilization Ratio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513930" y="3360390"/>
            <a:ext cx="1932756" cy="375419"/>
          </a:xfrm>
          <a:prstGeom prst="roundRect">
            <a:avLst>
              <a:gd name="adj" fmla="val 1149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621384" y="3467844"/>
            <a:ext cx="1717849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Days Past Due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96119" y="3820864"/>
            <a:ext cx="1932756" cy="375419"/>
          </a:xfrm>
          <a:prstGeom prst="roundRect">
            <a:avLst>
              <a:gd name="adj" fmla="val 1149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03572" y="3928318"/>
            <a:ext cx="1717849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Fraud Count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513930" y="3820864"/>
            <a:ext cx="1932756" cy="375419"/>
          </a:xfrm>
          <a:prstGeom prst="roundRect">
            <a:avLst>
              <a:gd name="adj" fmla="val 1149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621384" y="3928318"/>
            <a:ext cx="1717849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Payment Ratio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96119" y="4281339"/>
            <a:ext cx="3950568" cy="375419"/>
          </a:xfrm>
          <a:prstGeom prst="roundRect">
            <a:avLst>
              <a:gd name="adj" fmla="val 1149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03572" y="4388793"/>
            <a:ext cx="3735660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Account Age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702076" y="924520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Model Performance Metrics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702076" y="1180728"/>
            <a:ext cx="3950568" cy="1336774"/>
          </a:xfrm>
          <a:prstGeom prst="roundRect">
            <a:avLst>
              <a:gd name="adj" fmla="val 322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702076" y="1449512"/>
            <a:ext cx="3950568" cy="64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2"/>
          <p:cNvSpPr/>
          <p:nvPr/>
        </p:nvSpPr>
        <p:spPr>
          <a:xfrm>
            <a:off x="4702076" y="1715914"/>
            <a:ext cx="3950568" cy="64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4702076" y="1982316"/>
            <a:ext cx="3950568" cy="64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9" name="Shape 24"/>
          <p:cNvSpPr/>
          <p:nvPr/>
        </p:nvSpPr>
        <p:spPr>
          <a:xfrm>
            <a:off x="4702076" y="2248719"/>
            <a:ext cx="3950568" cy="64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0" name="Shape 25"/>
          <p:cNvSpPr/>
          <p:nvPr/>
        </p:nvSpPr>
        <p:spPr>
          <a:xfrm>
            <a:off x="4706913" y="1185490"/>
            <a:ext cx="1970484" cy="264021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31" name="Text 26"/>
          <p:cNvSpPr/>
          <p:nvPr/>
        </p:nvSpPr>
        <p:spPr>
          <a:xfrm>
            <a:off x="4809604" y="1241227"/>
            <a:ext cx="2222302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Metric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6677397" y="1185490"/>
            <a:ext cx="1970484" cy="264021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33" name="Text 28"/>
          <p:cNvSpPr/>
          <p:nvPr/>
        </p:nvSpPr>
        <p:spPr>
          <a:xfrm>
            <a:off x="6780088" y="1241227"/>
            <a:ext cx="2222302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Score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4809604" y="1507629"/>
            <a:ext cx="2222302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ROC-AUC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6780088" y="1507629"/>
            <a:ext cx="2222302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0.83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4809604" y="1774031"/>
            <a:ext cx="2222302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Accuracy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6780088" y="1774031"/>
            <a:ext cx="2222302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75%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4809604" y="2040434"/>
            <a:ext cx="2222302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Precision (Default)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6780088" y="2040434"/>
            <a:ext cx="2222302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76%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4809604" y="2306836"/>
            <a:ext cx="2222302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Recall (Default)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6780088" y="2306836"/>
            <a:ext cx="2222302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77%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4702076" y="2613199"/>
            <a:ext cx="3950568" cy="654844"/>
          </a:xfrm>
          <a:prstGeom prst="roundRect">
            <a:avLst>
              <a:gd name="adj" fmla="val 6589"/>
            </a:avLst>
          </a:prstGeom>
          <a:solidFill>
            <a:srgbClr val="EBE2E0"/>
          </a:solidFill>
          <a:ln/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4767" y="2765971"/>
            <a:ext cx="128364" cy="102691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5035823" y="2715369"/>
            <a:ext cx="3514130" cy="450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ROC-AUC of 0.83 indicates strong discriminatory power — the model reliably separates defaulters from non-defaulters well above random chance.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Model Consistency — Feature Importance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596950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importance ranking matches EDA findings exactly — consistent story across every stage of analysis.</a:t>
            </a:r>
            <a:endParaRPr lang="en-US" sz="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06115"/>
            <a:ext cx="73152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4886697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This Consistency Means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496119" y="5014540"/>
            <a:ext cx="4000277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SQL segmentation, Python EDA correlation analysis, and the logistic regression model all rank the same features in the same order, it validates that the signals are real — not artefacts of any single analytical method. The story is coherent end-to-end.</a:t>
            </a:r>
            <a:endParaRPr lang="en-US" sz="450" dirty="0"/>
          </a:p>
        </p:txBody>
      </p:sp>
      <p:sp>
        <p:nvSpPr>
          <p:cNvPr id="7" name="Text 4"/>
          <p:cNvSpPr/>
          <p:nvPr/>
        </p:nvSpPr>
        <p:spPr>
          <a:xfrm>
            <a:off x="4652367" y="4886697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Analytical Integrity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4652367" y="5099447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SQL → EDA → Model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652367" y="5227290"/>
            <a:ext cx="4000277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three stages independently surface the same top risk drivers, confirming the robustness of the analytical pipeline.</a:t>
            </a:r>
            <a:endParaRPr lang="en-US" sz="450" dirty="0"/>
          </a:p>
        </p:txBody>
      </p:sp>
      <p:sp>
        <p:nvSpPr>
          <p:cNvPr id="10" name="Shape 7"/>
          <p:cNvSpPr/>
          <p:nvPr/>
        </p:nvSpPr>
        <p:spPr>
          <a:xfrm>
            <a:off x="4642842" y="5018410"/>
            <a:ext cx="4019327" cy="1905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1" name="Text 8"/>
          <p:cNvSpPr/>
          <p:nvPr/>
        </p:nvSpPr>
        <p:spPr>
          <a:xfrm>
            <a:off x="4652367" y="5444654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Behavioural, Not Demographic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652367" y="5572497"/>
            <a:ext cx="4000277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model's selected features are entirely behavioural — reinforcing the EDA null result on demographics.</a:t>
            </a:r>
            <a:endParaRPr lang="en-US" sz="450" dirty="0"/>
          </a:p>
        </p:txBody>
      </p:sp>
      <p:sp>
        <p:nvSpPr>
          <p:cNvPr id="13" name="Shape 10"/>
          <p:cNvSpPr/>
          <p:nvPr/>
        </p:nvSpPr>
        <p:spPr>
          <a:xfrm>
            <a:off x="4642842" y="5363617"/>
            <a:ext cx="4019327" cy="19050"/>
          </a:xfrm>
          <a:prstGeom prst="rect">
            <a:avLst/>
          </a:prstGeom>
          <a:solidFill>
            <a:srgbClr val="835E5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Forecasting — What Happens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612428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Historical Stability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740271"/>
            <a:ext cx="4000277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default rate held stable between </a:t>
            </a:r>
            <a:r>
              <a:rPr lang="en-US" sz="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10.6% and 11.8%</a:t>
            </a:r>
            <a:r>
              <a:rPr lang="en-US" sz="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over 3 years of historical data — no worsening trend detected across the observation window.</a:t>
            </a:r>
            <a:endParaRPr lang="en-US" sz="450" dirty="0"/>
          </a:p>
        </p:txBody>
      </p:sp>
      <p:sp>
        <p:nvSpPr>
          <p:cNvPr id="5" name="Text 3"/>
          <p:cNvSpPr/>
          <p:nvPr/>
        </p:nvSpPr>
        <p:spPr>
          <a:xfrm>
            <a:off x="496119" y="919907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6-Month ARIMA Forecast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496119" y="1051620"/>
            <a:ext cx="1984623" cy="335682"/>
          </a:xfrm>
          <a:prstGeom prst="roundRect">
            <a:avLst>
              <a:gd name="adj" fmla="val 7760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868" y="1118369"/>
            <a:ext cx="185112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Forecast Rate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562868" y="1246212"/>
            <a:ext cx="185112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~11.1%</a:t>
            </a:r>
            <a:endParaRPr lang="en-US" sz="450" dirty="0"/>
          </a:p>
        </p:txBody>
      </p:sp>
      <p:sp>
        <p:nvSpPr>
          <p:cNvPr id="9" name="Shape 7"/>
          <p:cNvSpPr/>
          <p:nvPr/>
        </p:nvSpPr>
        <p:spPr>
          <a:xfrm>
            <a:off x="2511698" y="1051620"/>
            <a:ext cx="1984697" cy="335682"/>
          </a:xfrm>
          <a:prstGeom prst="roundRect">
            <a:avLst>
              <a:gd name="adj" fmla="val 7760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447" y="1118369"/>
            <a:ext cx="1851199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95% Confidence Interval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578447" y="1246212"/>
            <a:ext cx="1851199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10.6% – 11.6%</a:t>
            </a:r>
            <a:endParaRPr lang="en-US" sz="450" dirty="0"/>
          </a:p>
        </p:txBody>
      </p:sp>
      <p:sp>
        <p:nvSpPr>
          <p:cNvPr id="12" name="Shape 10"/>
          <p:cNvSpPr/>
          <p:nvPr/>
        </p:nvSpPr>
        <p:spPr>
          <a:xfrm>
            <a:off x="496119" y="1418258"/>
            <a:ext cx="4000277" cy="335682"/>
          </a:xfrm>
          <a:prstGeom prst="roundRect">
            <a:avLst>
              <a:gd name="adj" fmla="val 7760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868" y="1485007"/>
            <a:ext cx="386677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Trend Direction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62868" y="1612850"/>
            <a:ext cx="386677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Stable / Flat</a:t>
            </a:r>
            <a:endParaRPr lang="en-US" sz="450" dirty="0"/>
          </a:p>
        </p:txBody>
      </p:sp>
      <p:sp>
        <p:nvSpPr>
          <p:cNvPr id="15" name="Shape 13"/>
          <p:cNvSpPr/>
          <p:nvPr/>
        </p:nvSpPr>
        <p:spPr>
          <a:xfrm>
            <a:off x="4607719" y="581471"/>
            <a:ext cx="4089574" cy="1207294"/>
          </a:xfrm>
          <a:prstGeom prst="roundRect">
            <a:avLst>
              <a:gd name="adj" fmla="val 3699"/>
            </a:avLst>
          </a:prstGeom>
          <a:solidFill>
            <a:srgbClr val="835E54"/>
          </a:solidFill>
          <a:ln/>
        </p:spPr>
      </p:sp>
      <p:sp>
        <p:nvSpPr>
          <p:cNvPr id="16" name="Text 14"/>
          <p:cNvSpPr/>
          <p:nvPr/>
        </p:nvSpPr>
        <p:spPr>
          <a:xfrm>
            <a:off x="4669706" y="612428"/>
            <a:ext cx="3965600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Business Read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669706" y="740271"/>
            <a:ext cx="3965600" cy="325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risk is </a:t>
            </a:r>
            <a:r>
              <a:rPr lang="en-US" sz="4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not deteriorating</a:t>
            </a:r>
            <a:r>
              <a:rPr lang="en-US" sz="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No emergency action is statistically justified — but continued monitoring is essential to catch any future drift early.</a:t>
            </a:r>
            <a:endParaRPr lang="en-US" sz="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tight confidence interval (±0.5%) reflects a well-behaved, predictable portfolio. The ARIMA model provides a reliable baseline against which future monthly actuals can be benchmarked. Any reading outside the 10.6%–11.6% band should trigger a formal review.</a:t>
            </a:r>
            <a:endParaRPr lang="en-US" sz="4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57" y="1823591"/>
            <a:ext cx="7272486" cy="397400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894731" y="3685650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Historical Data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49912" y="3659794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ARIMA Model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071232" y="3668073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6‑Month Forecast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6787"/>
            <a:ext cx="8151763" cy="25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Power BI Dashboard — 7 Pages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727918"/>
            <a:ext cx="8151763" cy="4883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4986" y="895796"/>
            <a:ext cx="122039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884560" y="818778"/>
            <a:ext cx="7672462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84560" y="977875"/>
            <a:ext cx="767246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KPIs &amp; risk segmentation — top-line view for senior leadership.</a:t>
            </a:r>
            <a:endParaRPr lang="en-US" sz="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269653"/>
            <a:ext cx="8151763" cy="4883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4986" y="1437531"/>
            <a:ext cx="122039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884560" y="1360512"/>
            <a:ext cx="7672462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Risk Monitoring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84560" y="1519610"/>
            <a:ext cx="767246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DPD buckets &amp; utilization distribution — operational risk tracking.</a:t>
            </a:r>
            <a:endParaRPr lang="en-US" sz="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811387"/>
            <a:ext cx="8151763" cy="4883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986" y="1979265"/>
            <a:ext cx="122039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884560" y="1902247"/>
            <a:ext cx="7672462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Analytics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884560" y="2061344"/>
            <a:ext cx="767246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 segmentation — understanding the customer base.</a:t>
            </a:r>
            <a:endParaRPr lang="en-US" sz="6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353121"/>
            <a:ext cx="8151763" cy="48837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4986" y="2521000"/>
            <a:ext cx="122039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884560" y="2443981"/>
            <a:ext cx="7672462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Fraud Dashboard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884560" y="2603078"/>
            <a:ext cx="767246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Fraud patterns &amp; default impact — connecting fraud and credit risk.</a:t>
            </a:r>
            <a:endParaRPr lang="en-US" sz="6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894856"/>
            <a:ext cx="8151763" cy="48837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4986" y="3062734"/>
            <a:ext cx="122039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5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884560" y="2985715"/>
            <a:ext cx="7672462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Collections Dashboard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884560" y="3144813"/>
            <a:ext cx="767246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Recovery performance — measuring collections effectiveness.</a:t>
            </a:r>
            <a:endParaRPr lang="en-US" sz="6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436590"/>
            <a:ext cx="8151763" cy="48837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04986" y="3604468"/>
            <a:ext cx="122039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6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884560" y="3527450"/>
            <a:ext cx="7672462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Forecast Dashboard</a:t>
            </a:r>
            <a:endParaRPr lang="en-US" sz="800" dirty="0"/>
          </a:p>
        </p:txBody>
      </p:sp>
      <p:sp>
        <p:nvSpPr>
          <p:cNvPr id="26" name="Text 18"/>
          <p:cNvSpPr/>
          <p:nvPr/>
        </p:nvSpPr>
        <p:spPr>
          <a:xfrm>
            <a:off x="884560" y="3686547"/>
            <a:ext cx="767246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Historical trend + 6-month ARIMA forecast — forward-looking risk view.</a:t>
            </a:r>
            <a:endParaRPr lang="en-US" sz="6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978325"/>
            <a:ext cx="8151763" cy="488379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04986" y="4146203"/>
            <a:ext cx="122039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7</a:t>
            </a:r>
            <a:endParaRPr lang="en-US" sz="950" dirty="0"/>
          </a:p>
        </p:txBody>
      </p:sp>
      <p:sp>
        <p:nvSpPr>
          <p:cNvPr id="29" name="Text 20"/>
          <p:cNvSpPr/>
          <p:nvPr/>
        </p:nvSpPr>
        <p:spPr>
          <a:xfrm>
            <a:off x="884560" y="4069184"/>
            <a:ext cx="7672462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ML Dashboard</a:t>
            </a:r>
            <a:endParaRPr lang="en-US" sz="800" dirty="0"/>
          </a:p>
        </p:txBody>
      </p:sp>
      <p:sp>
        <p:nvSpPr>
          <p:cNvPr id="30" name="Text 21"/>
          <p:cNvSpPr/>
          <p:nvPr/>
        </p:nvSpPr>
        <p:spPr>
          <a:xfrm>
            <a:off x="884560" y="4228281"/>
            <a:ext cx="7672462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metrics &amp; feature importance — transparency into the predictive model.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6266"/>
            <a:ext cx="8151763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Business Recommendations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496119" y="869900"/>
            <a:ext cx="235446" cy="235446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5372" y="889508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9820" y="905842"/>
            <a:ext cx="7828062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Build automated early-warning alerts on DPD &amp; utilization thresholds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9820" y="1122313"/>
            <a:ext cx="7828062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Operationalize the strongest predictive signals into real-time monitoring triggers.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96119" y="1453307"/>
            <a:ext cx="235446" cy="235446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5372" y="1472915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9820" y="1489249"/>
            <a:ext cx="7828062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Treat fraud history as a compounding risk signal — connect fraud &amp; credit risk teams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9820" y="1705719"/>
            <a:ext cx="7828062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Fraud count drives default rate from 45% to 100%; siloed teams miss this compounding effect.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96119" y="2036713"/>
            <a:ext cx="235446" cy="235446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5372" y="2056321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9820" y="2072655"/>
            <a:ext cx="7828062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Don't build risk policy around demographics — focus on behavioral signals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9820" y="2289125"/>
            <a:ext cx="7828062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City, occupation, age, and income show no predictive power; policy built on them will underperform.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96119" y="2620119"/>
            <a:ext cx="235446" cy="235446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372" y="2639727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9820" y="2656061"/>
            <a:ext cx="7828062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Reward strong payment behavior with proactive credit limit increases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9820" y="2872532"/>
            <a:ext cx="7828062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Payment ratio is the only protective factor — incentivize it to improve portfolio quality.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6119" y="3203525"/>
            <a:ext cx="235446" cy="235446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372" y="3223133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9820" y="3239467"/>
            <a:ext cx="7828062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Rethink collections strategy — call volume alone isn't driving recovery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9820" y="3455938"/>
            <a:ext cx="7828062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Collections data shows effort is not translating to recovery; strategy redesign is warranted.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6119" y="3786932"/>
            <a:ext cx="235446" cy="235446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5372" y="3806540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9820" y="3822874"/>
            <a:ext cx="7828062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Pilot the model at credit origination, not just for existing-account monitoring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9820" y="4039344"/>
            <a:ext cx="7828062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Applying the model at the point of application prevents high-risk accounts from entering the portfolio.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96119" y="4370338"/>
            <a:ext cx="235446" cy="235446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5372" y="4389946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9820" y="4406280"/>
            <a:ext cx="7828062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Maintain current monitoring investment — the portfolio is stable, not deteriorating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9820" y="4622750"/>
            <a:ext cx="7828062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ARIMA forecast confirms stability; the priority is early detection of any future drift, not crisis response.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27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Takeaway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629841" y="819820"/>
            <a:ext cx="8018041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portfolio is stable, its risk drivers are well understood, and the path forward is clear: operationalize the early-warning signals already validated across SQL, Python, and the predictive model — turning reactive risk management into proactive risk prevention.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96119" y="747787"/>
            <a:ext cx="9525" cy="389186"/>
          </a:xfrm>
          <a:prstGeom prst="roundRect">
            <a:avLst>
              <a:gd name="adj" fmla="val 60000"/>
            </a:avLst>
          </a:prstGeom>
          <a:solidFill>
            <a:srgbClr val="835E54"/>
          </a:solidFill>
          <a:ln/>
        </p:spPr>
      </p:sp>
      <p:sp>
        <p:nvSpPr>
          <p:cNvPr id="5" name="Shape 3"/>
          <p:cNvSpPr/>
          <p:nvPr/>
        </p:nvSpPr>
        <p:spPr>
          <a:xfrm>
            <a:off x="431974" y="1209005"/>
            <a:ext cx="4095452" cy="3595167"/>
          </a:xfrm>
          <a:prstGeom prst="roundRect">
            <a:avLst>
              <a:gd name="adj" fmla="val 1786"/>
            </a:avLst>
          </a:prstGeom>
          <a:solidFill>
            <a:srgbClr val="835E54"/>
          </a:solidFill>
          <a:ln/>
        </p:spPr>
      </p:sp>
      <p:sp>
        <p:nvSpPr>
          <p:cNvPr id="6" name="Text 4"/>
          <p:cNvSpPr/>
          <p:nvPr/>
        </p:nvSpPr>
        <p:spPr>
          <a:xfrm>
            <a:off x="521122" y="1273076"/>
            <a:ext cx="3917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Was Built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21122" y="1484412"/>
            <a:ext cx="178296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21122" y="1626319"/>
            <a:ext cx="3917156" cy="9525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9" name="Text 7"/>
          <p:cNvSpPr/>
          <p:nvPr/>
        </p:nvSpPr>
        <p:spPr>
          <a:xfrm>
            <a:off x="521122" y="1689943"/>
            <a:ext cx="3917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SQL Data Mart &amp; KPI Layer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1122" y="1893317"/>
            <a:ext cx="3917156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20,000 accounts, ₹15.51B exposure, full risk segmentation.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21122" y="2146771"/>
            <a:ext cx="178296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21122" y="2288679"/>
            <a:ext cx="3917156" cy="9525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122" y="2352303"/>
            <a:ext cx="3917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Python EDA &amp; Feature Engineering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1122" y="2555677"/>
            <a:ext cx="3917156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Behavioural signals identified; demographic null result confirmed.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21122" y="2809131"/>
            <a:ext cx="178296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21122" y="2951038"/>
            <a:ext cx="3917156" cy="9525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122" y="3014663"/>
            <a:ext cx="3917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Logistic Regression Model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21122" y="3218036"/>
            <a:ext cx="3917156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ROC-AUC 0.83 — regulator-friendly, interpretable, production-ready.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21122" y="3471490"/>
            <a:ext cx="178296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21122" y="3613398"/>
            <a:ext cx="3917156" cy="9525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122" y="3677022"/>
            <a:ext cx="3917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ARIMA Forecast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21122" y="3880396"/>
            <a:ext cx="3917156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6-month outlook stable at ~11.1%; tight confidence interval.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21122" y="4133850"/>
            <a:ext cx="178296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21122" y="4275758"/>
            <a:ext cx="3917156" cy="9525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122" y="4339382"/>
            <a:ext cx="3917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Power BI Dashboard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21122" y="4542755"/>
            <a:ext cx="3917156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7-page executive reporting suite covering all risk dimensions.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685481" y="1273076"/>
            <a:ext cx="39671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Strategic Shift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85481" y="1484412"/>
            <a:ext cx="3967163" cy="1017984"/>
          </a:xfrm>
          <a:prstGeom prst="roundRect">
            <a:avLst>
              <a:gd name="adj" fmla="val 3679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90244" y="1489174"/>
            <a:ext cx="3957638" cy="504230"/>
          </a:xfrm>
          <a:prstGeom prst="rect">
            <a:avLst/>
          </a:prstGeom>
          <a:solidFill>
            <a:srgbClr val="EBE2E0"/>
          </a:solidFill>
          <a:ln/>
        </p:spPr>
      </p:sp>
      <p:sp>
        <p:nvSpPr>
          <p:cNvPr id="30" name="Text 28"/>
          <p:cNvSpPr/>
          <p:nvPr/>
        </p:nvSpPr>
        <p:spPr>
          <a:xfrm>
            <a:off x="4779392" y="1578322"/>
            <a:ext cx="37793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Reactive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9392" y="1781696"/>
            <a:ext cx="3779341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Responding to defaults after they occur — high cost, low recovery.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690244" y="1993404"/>
            <a:ext cx="3957638" cy="504230"/>
          </a:xfrm>
          <a:prstGeom prst="rect">
            <a:avLst/>
          </a:prstGeom>
          <a:solidFill>
            <a:srgbClr val="EBE2E0"/>
          </a:solidFill>
          <a:ln/>
        </p:spPr>
      </p:sp>
      <p:sp>
        <p:nvSpPr>
          <p:cNvPr id="33" name="Shape 31"/>
          <p:cNvSpPr/>
          <p:nvPr/>
        </p:nvSpPr>
        <p:spPr>
          <a:xfrm>
            <a:off x="4690244" y="1993404"/>
            <a:ext cx="3957638" cy="9525"/>
          </a:xfrm>
          <a:prstGeom prst="roundRect">
            <a:avLst>
              <a:gd name="adj" fmla="val 393140"/>
            </a:avLst>
          </a:prstGeom>
          <a:solidFill>
            <a:srgbClr val="D1C8C6"/>
          </a:solidFill>
          <a:ln/>
        </p:spPr>
      </p:sp>
      <p:sp>
        <p:nvSpPr>
          <p:cNvPr id="34" name="Text 32"/>
          <p:cNvSpPr/>
          <p:nvPr/>
        </p:nvSpPr>
        <p:spPr>
          <a:xfrm>
            <a:off x="4779392" y="2082552"/>
            <a:ext cx="37793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Proactive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79392" y="2285926"/>
            <a:ext cx="3779341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Early-warning signals trigger intervention before default — lower cost, higher recovery.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456881" y="2574429"/>
            <a:ext cx="4424363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1294</Words>
  <Application>Microsoft Office PowerPoint</Application>
  <PresentationFormat>On-screen Show (16:9)</PresentationFormat>
  <Paragraphs>209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Open Sans</vt:lpstr>
      <vt:lpstr>Calibri</vt:lpstr>
      <vt:lpstr>Open Sans Bold</vt:lpstr>
      <vt:lpstr>Crimson Pro Light</vt:lpstr>
      <vt:lpstr>Crimson Pro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Rounak Pyne</cp:lastModifiedBy>
  <cp:revision>2</cp:revision>
  <dcterms:created xsi:type="dcterms:W3CDTF">2026-07-25T17:36:52Z</dcterms:created>
  <dcterms:modified xsi:type="dcterms:W3CDTF">2026-07-25T17:38:11Z</dcterms:modified>
</cp:coreProperties>
</file>